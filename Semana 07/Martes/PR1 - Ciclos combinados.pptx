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p:regular r:id="rId17"/>
      <p:bold r:id="rId18"/>
      <p:italic r:id="rId19"/>
      <p:boldItalic r:id="rId20"/>
    </p:embeddedFont>
    <p:embeddedFont>
      <p:font typeface="Fira Sans"/>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6.xml"/><Relationship Id="rId22" Type="http://schemas.openxmlformats.org/officeDocument/2006/relationships/font" Target="fonts/FiraSans-bold.fntdata"/><Relationship Id="rId10" Type="http://schemas.openxmlformats.org/officeDocument/2006/relationships/slide" Target="slides/slide5.xml"/><Relationship Id="rId21" Type="http://schemas.openxmlformats.org/officeDocument/2006/relationships/font" Target="fonts/FiraSans-regular.fntdata"/><Relationship Id="rId13" Type="http://schemas.openxmlformats.org/officeDocument/2006/relationships/slide" Target="slides/slide8.xml"/><Relationship Id="rId24" Type="http://schemas.openxmlformats.org/officeDocument/2006/relationships/font" Target="fonts/FiraSans-boldItalic.fntdata"/><Relationship Id="rId12" Type="http://schemas.openxmlformats.org/officeDocument/2006/relationships/slide" Target="slides/slide7.xml"/><Relationship Id="rId23" Type="http://schemas.openxmlformats.org/officeDocument/2006/relationships/font" Target="fonts/Fira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italic.fntdata"/><Relationship Id="rId6" Type="http://schemas.openxmlformats.org/officeDocument/2006/relationships/slide" Target="slides/slide1.xml"/><Relationship Id="rId18"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90a0485192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90a0485192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d32780828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2d32780828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90a048519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90a048519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94e5a20410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94e5a20410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d32780828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d32780828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d327808282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d32780828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d327e570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d327e570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d327808282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d327808282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d327808282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d32780828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d32780828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d327808282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3710700"/>
            <a:ext cx="2880900" cy="1432500"/>
          </a:xfrm>
          <a:prstGeom prst="rtTriangle">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3"/>
          <p:cNvSpPr txBox="1"/>
          <p:nvPr>
            <p:ph type="ctrTitle"/>
          </p:nvPr>
        </p:nvSpPr>
        <p:spPr>
          <a:xfrm>
            <a:off x="0" y="570275"/>
            <a:ext cx="9144000" cy="1656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s-419">
                <a:latin typeface="Fira Sans"/>
                <a:ea typeface="Fira Sans"/>
                <a:cs typeface="Fira Sans"/>
                <a:sym typeface="Fira Sans"/>
              </a:rPr>
              <a:t>Programación I</a:t>
            </a:r>
            <a:endParaRPr>
              <a:latin typeface="Fira Sans"/>
              <a:ea typeface="Fira Sans"/>
              <a:cs typeface="Fira Sans"/>
              <a:sym typeface="Fira Sans"/>
            </a:endParaRPr>
          </a:p>
        </p:txBody>
      </p:sp>
      <p:sp>
        <p:nvSpPr>
          <p:cNvPr id="56" name="Google Shape;56;p13"/>
          <p:cNvSpPr txBox="1"/>
          <p:nvPr/>
        </p:nvSpPr>
        <p:spPr>
          <a:xfrm>
            <a:off x="0" y="3221900"/>
            <a:ext cx="9144000" cy="63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419" sz="2800">
                <a:solidFill>
                  <a:srgbClr val="595959"/>
                </a:solidFill>
                <a:latin typeface="Roboto"/>
                <a:ea typeface="Roboto"/>
                <a:cs typeface="Roboto"/>
                <a:sym typeface="Roboto"/>
              </a:rPr>
              <a:t>Ciclos combinados</a:t>
            </a:r>
            <a:endParaRPr sz="2800">
              <a:solidFill>
                <a:srgbClr val="595959"/>
              </a:solidFill>
              <a:latin typeface="Roboto"/>
              <a:ea typeface="Roboto"/>
              <a:cs typeface="Roboto"/>
              <a:sym typeface="Roboto"/>
            </a:endParaRPr>
          </a:p>
        </p:txBody>
      </p:sp>
      <p:sp>
        <p:nvSpPr>
          <p:cNvPr id="57" name="Google Shape;57;p13"/>
          <p:cNvSpPr/>
          <p:nvPr/>
        </p:nvSpPr>
        <p:spPr>
          <a:xfrm rot="10800000">
            <a:off x="6263100" y="0"/>
            <a:ext cx="2880900" cy="1432500"/>
          </a:xfrm>
          <a:prstGeom prst="rtTriangle">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idx="1" type="subTitle"/>
          </p:nvPr>
        </p:nvSpPr>
        <p:spPr>
          <a:xfrm>
            <a:off x="366100" y="0"/>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s-419">
                <a:solidFill>
                  <a:srgbClr val="0B5394"/>
                </a:solidFill>
                <a:latin typeface="Fira Sans"/>
                <a:ea typeface="Fira Sans"/>
                <a:cs typeface="Fira Sans"/>
                <a:sym typeface="Fira Sans"/>
              </a:rPr>
              <a:t>Enunciado</a:t>
            </a:r>
            <a:endParaRPr>
              <a:solidFill>
                <a:srgbClr val="0B5394"/>
              </a:solidFill>
              <a:latin typeface="Fira Sans"/>
              <a:ea typeface="Fira Sans"/>
              <a:cs typeface="Fira Sans"/>
              <a:sym typeface="Fira Sans"/>
            </a:endParaRPr>
          </a:p>
        </p:txBody>
      </p:sp>
      <p:sp>
        <p:nvSpPr>
          <p:cNvPr id="63" name="Google Shape;63;p14"/>
          <p:cNvSpPr/>
          <p:nvPr/>
        </p:nvSpPr>
        <p:spPr>
          <a:xfrm>
            <a:off x="0" y="4351000"/>
            <a:ext cx="9144000" cy="792600"/>
          </a:xfrm>
          <a:prstGeom prst="rect">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txBox="1"/>
          <p:nvPr/>
        </p:nvSpPr>
        <p:spPr>
          <a:xfrm>
            <a:off x="428925" y="661125"/>
            <a:ext cx="7993800" cy="358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700">
                <a:solidFill>
                  <a:schemeClr val="dk1"/>
                </a:solidFill>
                <a:latin typeface="Roboto"/>
                <a:ea typeface="Roboto"/>
                <a:cs typeface="Roboto"/>
                <a:sym typeface="Roboto"/>
              </a:rPr>
              <a:t>Una empresa de reparación de celulares registró las reparaciones realizadas por sus 5 técnicos el día de hoy. Cada técnico repara 10 dispositivos por día. Por cada reparación se registró:</a:t>
            </a:r>
            <a:endParaRPr sz="1700">
              <a:solidFill>
                <a:schemeClr val="dk1"/>
              </a:solidFill>
              <a:latin typeface="Roboto"/>
              <a:ea typeface="Roboto"/>
              <a:cs typeface="Roboto"/>
              <a:sym typeface="Roboto"/>
            </a:endParaRPr>
          </a:p>
          <a:p>
            <a:pPr indent="0" lvl="0" marL="0" rtl="0" algn="l">
              <a:spcBef>
                <a:spcPts val="0"/>
              </a:spcBef>
              <a:spcAft>
                <a:spcPts val="0"/>
              </a:spcAft>
              <a:buNone/>
            </a:pPr>
            <a:r>
              <a:rPr lang="es-419" sz="1700">
                <a:solidFill>
                  <a:schemeClr val="dk1"/>
                </a:solidFill>
                <a:latin typeface="Roboto"/>
                <a:ea typeface="Roboto"/>
                <a:cs typeface="Roboto"/>
                <a:sym typeface="Roboto"/>
              </a:rPr>
              <a:t>- Legajo del técnico (entero de dos digitos)</a:t>
            </a:r>
            <a:endParaRPr sz="1700">
              <a:solidFill>
                <a:schemeClr val="dk1"/>
              </a:solidFill>
              <a:latin typeface="Roboto"/>
              <a:ea typeface="Roboto"/>
              <a:cs typeface="Roboto"/>
              <a:sym typeface="Roboto"/>
            </a:endParaRPr>
          </a:p>
          <a:p>
            <a:pPr indent="0" lvl="0" marL="0" rtl="0" algn="l">
              <a:spcBef>
                <a:spcPts val="0"/>
              </a:spcBef>
              <a:spcAft>
                <a:spcPts val="0"/>
              </a:spcAft>
              <a:buNone/>
            </a:pPr>
            <a:r>
              <a:rPr lang="es-419" sz="1700">
                <a:solidFill>
                  <a:schemeClr val="dk1"/>
                </a:solidFill>
                <a:latin typeface="Roboto"/>
                <a:ea typeface="Roboto"/>
                <a:cs typeface="Roboto"/>
                <a:sym typeface="Roboto"/>
              </a:rPr>
              <a:t>- Duración de la reparación en minutos (entero)</a:t>
            </a:r>
            <a:endParaRPr sz="1700">
              <a:solidFill>
                <a:schemeClr val="dk1"/>
              </a:solidFill>
              <a:latin typeface="Roboto"/>
              <a:ea typeface="Roboto"/>
              <a:cs typeface="Roboto"/>
              <a:sym typeface="Roboto"/>
            </a:endParaRPr>
          </a:p>
          <a:p>
            <a:pPr indent="0" lvl="0" marL="0" rtl="0" algn="l">
              <a:spcBef>
                <a:spcPts val="0"/>
              </a:spcBef>
              <a:spcAft>
                <a:spcPts val="0"/>
              </a:spcAft>
              <a:buNone/>
            </a:pPr>
            <a:r>
              <a:rPr lang="es-419" sz="1700">
                <a:solidFill>
                  <a:schemeClr val="dk1"/>
                </a:solidFill>
                <a:latin typeface="Roboto"/>
                <a:ea typeface="Roboto"/>
                <a:cs typeface="Roboto"/>
                <a:sym typeface="Roboto"/>
              </a:rPr>
              <a:t>- Cantidad de insumos necesarios (entero)</a:t>
            </a:r>
            <a:endParaRPr sz="1700">
              <a:solidFill>
                <a:schemeClr val="dk1"/>
              </a:solidFill>
              <a:latin typeface="Roboto"/>
              <a:ea typeface="Roboto"/>
              <a:cs typeface="Roboto"/>
              <a:sym typeface="Roboto"/>
            </a:endParaRPr>
          </a:p>
          <a:p>
            <a:pPr indent="0" lvl="0" marL="0" rtl="0" algn="l">
              <a:spcBef>
                <a:spcPts val="0"/>
              </a:spcBef>
              <a:spcAft>
                <a:spcPts val="0"/>
              </a:spcAft>
              <a:buNone/>
            </a:pPr>
            <a:r>
              <a:t/>
            </a:r>
            <a:endParaRPr sz="1700">
              <a:solidFill>
                <a:schemeClr val="dk1"/>
              </a:solidFill>
              <a:latin typeface="Roboto"/>
              <a:ea typeface="Roboto"/>
              <a:cs typeface="Roboto"/>
              <a:sym typeface="Roboto"/>
            </a:endParaRPr>
          </a:p>
          <a:p>
            <a:pPr indent="0" lvl="0" marL="0" rtl="0" algn="l">
              <a:spcBef>
                <a:spcPts val="0"/>
              </a:spcBef>
              <a:spcAft>
                <a:spcPts val="0"/>
              </a:spcAft>
              <a:buNone/>
            </a:pPr>
            <a:r>
              <a:rPr lang="es-419" sz="1700">
                <a:solidFill>
                  <a:schemeClr val="dk1"/>
                </a:solidFill>
                <a:latin typeface="Roboto"/>
                <a:ea typeface="Roboto"/>
                <a:cs typeface="Roboto"/>
                <a:sym typeface="Roboto"/>
              </a:rPr>
              <a:t>La información se encuentra agrupada por técnico.</a:t>
            </a:r>
            <a:endParaRPr sz="1700">
              <a:solidFill>
                <a:schemeClr val="dk1"/>
              </a:solidFill>
              <a:latin typeface="Roboto"/>
              <a:ea typeface="Roboto"/>
              <a:cs typeface="Roboto"/>
              <a:sym typeface="Roboto"/>
            </a:endParaRPr>
          </a:p>
          <a:p>
            <a:pPr indent="0" lvl="0" marL="0" rtl="0" algn="l">
              <a:spcBef>
                <a:spcPts val="0"/>
              </a:spcBef>
              <a:spcAft>
                <a:spcPts val="0"/>
              </a:spcAft>
              <a:buNone/>
            </a:pPr>
            <a:r>
              <a:rPr lang="es-419" sz="1700">
                <a:solidFill>
                  <a:schemeClr val="dk1"/>
                </a:solidFill>
                <a:latin typeface="Roboto"/>
                <a:ea typeface="Roboto"/>
                <a:cs typeface="Roboto"/>
                <a:sym typeface="Roboto"/>
              </a:rPr>
              <a:t>Se pide calcular e informar:</a:t>
            </a:r>
            <a:endParaRPr sz="1700">
              <a:solidFill>
                <a:schemeClr val="dk1"/>
              </a:solidFill>
              <a:latin typeface="Roboto"/>
              <a:ea typeface="Roboto"/>
              <a:cs typeface="Roboto"/>
              <a:sym typeface="Roboto"/>
            </a:endParaRPr>
          </a:p>
          <a:p>
            <a:pPr indent="0" lvl="0" marL="0" rtl="0" algn="l">
              <a:spcBef>
                <a:spcPts val="0"/>
              </a:spcBef>
              <a:spcAft>
                <a:spcPts val="0"/>
              </a:spcAft>
              <a:buNone/>
            </a:pPr>
            <a:r>
              <a:t/>
            </a:r>
            <a:endParaRPr sz="1700">
              <a:solidFill>
                <a:schemeClr val="dk1"/>
              </a:solidFill>
              <a:latin typeface="Roboto"/>
              <a:ea typeface="Roboto"/>
              <a:cs typeface="Roboto"/>
              <a:sym typeface="Roboto"/>
            </a:endParaRPr>
          </a:p>
          <a:p>
            <a:pPr indent="0" lvl="0" marL="0" rtl="0" algn="l">
              <a:spcBef>
                <a:spcPts val="0"/>
              </a:spcBef>
              <a:spcAft>
                <a:spcPts val="0"/>
              </a:spcAft>
              <a:buNone/>
            </a:pPr>
            <a:r>
              <a:rPr lang="es-419" sz="1700">
                <a:solidFill>
                  <a:schemeClr val="dk1"/>
                </a:solidFill>
                <a:latin typeface="Roboto"/>
                <a:ea typeface="Roboto"/>
                <a:cs typeface="Roboto"/>
                <a:sym typeface="Roboto"/>
              </a:rPr>
              <a:t>A) Por cada técnico, el tiempo total dedicado a la reparación en el día.</a:t>
            </a:r>
            <a:endParaRPr sz="1700">
              <a:solidFill>
                <a:schemeClr val="dk1"/>
              </a:solidFill>
              <a:latin typeface="Roboto"/>
              <a:ea typeface="Roboto"/>
              <a:cs typeface="Roboto"/>
              <a:sym typeface="Roboto"/>
            </a:endParaRPr>
          </a:p>
          <a:p>
            <a:pPr indent="0" lvl="0" marL="0" rtl="0" algn="l">
              <a:spcBef>
                <a:spcPts val="0"/>
              </a:spcBef>
              <a:spcAft>
                <a:spcPts val="0"/>
              </a:spcAft>
              <a:buNone/>
            </a:pPr>
            <a:r>
              <a:rPr lang="es-419" sz="1700">
                <a:solidFill>
                  <a:schemeClr val="dk1"/>
                </a:solidFill>
                <a:latin typeface="Roboto"/>
                <a:ea typeface="Roboto"/>
                <a:cs typeface="Roboto"/>
                <a:sym typeface="Roboto"/>
              </a:rPr>
              <a:t>B) Por cada técnico, la cantidad de reparaciones que no requirieron insumos.</a:t>
            </a:r>
            <a:endParaRPr sz="1700">
              <a:solidFill>
                <a:schemeClr val="dk1"/>
              </a:solidFill>
              <a:latin typeface="Roboto"/>
              <a:ea typeface="Roboto"/>
              <a:cs typeface="Roboto"/>
              <a:sym typeface="Roboto"/>
            </a:endParaRPr>
          </a:p>
          <a:p>
            <a:pPr indent="0" lvl="0" marL="0" rtl="0" algn="l">
              <a:spcBef>
                <a:spcPts val="0"/>
              </a:spcBef>
              <a:spcAft>
                <a:spcPts val="0"/>
              </a:spcAft>
              <a:buNone/>
            </a:pPr>
            <a:r>
              <a:rPr lang="es-419" sz="1700">
                <a:solidFill>
                  <a:schemeClr val="dk1"/>
                </a:solidFill>
                <a:latin typeface="Roboto"/>
                <a:ea typeface="Roboto"/>
                <a:cs typeface="Roboto"/>
                <a:sym typeface="Roboto"/>
              </a:rPr>
              <a:t>C) El total de reparaciones que hayan demorado más de dos horas.</a:t>
            </a:r>
            <a:endParaRPr sz="1700">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idx="1" type="subTitle"/>
          </p:nvPr>
        </p:nvSpPr>
        <p:spPr>
          <a:xfrm>
            <a:off x="366100" y="0"/>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s-419">
                <a:solidFill>
                  <a:srgbClr val="0B5394"/>
                </a:solidFill>
                <a:latin typeface="Fira Sans"/>
                <a:ea typeface="Fira Sans"/>
                <a:cs typeface="Fira Sans"/>
                <a:sym typeface="Fira Sans"/>
              </a:rPr>
              <a:t>Enunciado</a:t>
            </a:r>
            <a:endParaRPr>
              <a:solidFill>
                <a:srgbClr val="0B5394"/>
              </a:solidFill>
              <a:latin typeface="Fira Sans"/>
              <a:ea typeface="Fira Sans"/>
              <a:cs typeface="Fira Sans"/>
              <a:sym typeface="Fira Sans"/>
            </a:endParaRPr>
          </a:p>
        </p:txBody>
      </p:sp>
      <p:sp>
        <p:nvSpPr>
          <p:cNvPr id="70" name="Google Shape;70;p15"/>
          <p:cNvSpPr/>
          <p:nvPr/>
        </p:nvSpPr>
        <p:spPr>
          <a:xfrm>
            <a:off x="0" y="4351000"/>
            <a:ext cx="9144000" cy="792600"/>
          </a:xfrm>
          <a:prstGeom prst="rect">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5"/>
          <p:cNvSpPr txBox="1"/>
          <p:nvPr/>
        </p:nvSpPr>
        <p:spPr>
          <a:xfrm>
            <a:off x="428925" y="661125"/>
            <a:ext cx="7993800" cy="3879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500">
                <a:solidFill>
                  <a:schemeClr val="dk1"/>
                </a:solidFill>
                <a:latin typeface="Roboto"/>
                <a:ea typeface="Roboto"/>
                <a:cs typeface="Roboto"/>
                <a:sym typeface="Roboto"/>
              </a:rPr>
              <a:t>Se pide calcular e informar:</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rPr lang="es-419" sz="1500">
                <a:solidFill>
                  <a:schemeClr val="dk1"/>
                </a:solidFill>
                <a:latin typeface="Roboto"/>
                <a:ea typeface="Roboto"/>
                <a:cs typeface="Roboto"/>
                <a:sym typeface="Roboto"/>
              </a:rPr>
              <a:t>A) Por cada técnico, el tiempo total dedicado a la reparación en el día.</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rPr lang="es-419" sz="1500">
                <a:solidFill>
                  <a:schemeClr val="dk1"/>
                </a:solidFill>
                <a:latin typeface="Roboto"/>
                <a:ea typeface="Roboto"/>
                <a:cs typeface="Roboto"/>
                <a:sym typeface="Roboto"/>
              </a:rPr>
              <a:t>B) Por cada técnico, la cantidad de reparaciones que no requirieron insumos.</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rPr lang="es-419" sz="1500">
                <a:solidFill>
                  <a:schemeClr val="dk1"/>
                </a:solidFill>
                <a:latin typeface="Roboto"/>
                <a:ea typeface="Roboto"/>
                <a:cs typeface="Roboto"/>
                <a:sym typeface="Roboto"/>
              </a:rPr>
              <a:t>C) El total de reparaciones que hayan demorado más de dos horas.</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idx="1" type="subTitle"/>
          </p:nvPr>
        </p:nvSpPr>
        <p:spPr>
          <a:xfrm>
            <a:off x="406575" y="0"/>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s-419">
                <a:solidFill>
                  <a:srgbClr val="0B5394"/>
                </a:solidFill>
                <a:latin typeface="Fira Sans"/>
                <a:ea typeface="Fira Sans"/>
                <a:cs typeface="Fira Sans"/>
                <a:sym typeface="Fira Sans"/>
              </a:rPr>
              <a:t>Representación general</a:t>
            </a:r>
            <a:endParaRPr>
              <a:solidFill>
                <a:srgbClr val="0B5394"/>
              </a:solidFill>
              <a:latin typeface="Fira Sans"/>
              <a:ea typeface="Fira Sans"/>
              <a:cs typeface="Fira Sans"/>
              <a:sym typeface="Fira Sans"/>
            </a:endParaRPr>
          </a:p>
        </p:txBody>
      </p:sp>
      <p:pic>
        <p:nvPicPr>
          <p:cNvPr id="77" name="Google Shape;77;p16"/>
          <p:cNvPicPr preferRelativeResize="0"/>
          <p:nvPr/>
        </p:nvPicPr>
        <p:blipFill rotWithShape="1">
          <a:blip r:embed="rId3">
            <a:alphaModFix/>
          </a:blip>
          <a:srcRect b="11664" l="0" r="0" t="22585"/>
          <a:stretch/>
        </p:blipFill>
        <p:spPr>
          <a:xfrm>
            <a:off x="1077325" y="792600"/>
            <a:ext cx="7055274" cy="3982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idx="1" type="subTitle"/>
          </p:nvPr>
        </p:nvSpPr>
        <p:spPr>
          <a:xfrm>
            <a:off x="406575" y="497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s-419">
                <a:solidFill>
                  <a:srgbClr val="0B5394"/>
                </a:solidFill>
                <a:latin typeface="Fira Sans"/>
                <a:ea typeface="Fira Sans"/>
                <a:cs typeface="Fira Sans"/>
                <a:sym typeface="Fira Sans"/>
              </a:rPr>
              <a:t>Tabla de datos</a:t>
            </a:r>
            <a:endParaRPr>
              <a:solidFill>
                <a:srgbClr val="0B5394"/>
              </a:solidFill>
              <a:latin typeface="Fira Sans"/>
              <a:ea typeface="Fira Sans"/>
              <a:cs typeface="Fira Sans"/>
              <a:sym typeface="Fira Sans"/>
            </a:endParaRPr>
          </a:p>
        </p:txBody>
      </p:sp>
      <p:sp>
        <p:nvSpPr>
          <p:cNvPr id="83" name="Google Shape;83;p17"/>
          <p:cNvSpPr/>
          <p:nvPr/>
        </p:nvSpPr>
        <p:spPr>
          <a:xfrm rot="10800000">
            <a:off x="6228000" y="-50"/>
            <a:ext cx="2916000" cy="1062300"/>
          </a:xfrm>
          <a:prstGeom prst="rtTriangle">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7"/>
          <p:cNvSpPr txBox="1"/>
          <p:nvPr/>
        </p:nvSpPr>
        <p:spPr>
          <a:xfrm>
            <a:off x="1572000" y="1062268"/>
            <a:ext cx="58614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700">
                <a:solidFill>
                  <a:schemeClr val="dk1"/>
                </a:solidFill>
                <a:latin typeface="Roboto"/>
                <a:ea typeface="Roboto"/>
                <a:cs typeface="Roboto"/>
                <a:sym typeface="Roboto"/>
              </a:rPr>
              <a:t>10 registros de reparación por cada uno de los 5 técnicos.</a:t>
            </a:r>
            <a:endParaRPr sz="2700">
              <a:solidFill>
                <a:schemeClr val="dk1"/>
              </a:solidFill>
              <a:latin typeface="Roboto"/>
              <a:ea typeface="Roboto"/>
              <a:cs typeface="Roboto"/>
              <a:sym typeface="Roboto"/>
            </a:endParaRPr>
          </a:p>
          <a:p>
            <a:pPr indent="0" lvl="0" marL="0" rtl="0" algn="l">
              <a:spcBef>
                <a:spcPts val="0"/>
              </a:spcBef>
              <a:spcAft>
                <a:spcPts val="0"/>
              </a:spcAft>
              <a:buNone/>
            </a:pPr>
            <a:r>
              <a:t/>
            </a:r>
            <a:endParaRPr sz="2700">
              <a:solidFill>
                <a:schemeClr val="dk1"/>
              </a:solidFill>
              <a:latin typeface="Roboto"/>
              <a:ea typeface="Roboto"/>
              <a:cs typeface="Roboto"/>
              <a:sym typeface="Roboto"/>
            </a:endParaRPr>
          </a:p>
          <a:p>
            <a:pPr indent="0" lvl="0" marL="0" rtl="0" algn="l">
              <a:spcBef>
                <a:spcPts val="0"/>
              </a:spcBef>
              <a:spcAft>
                <a:spcPts val="0"/>
              </a:spcAft>
              <a:buNone/>
            </a:pPr>
            <a:r>
              <a:rPr lang="es-419" sz="2700">
                <a:solidFill>
                  <a:schemeClr val="dk1"/>
                </a:solidFill>
                <a:latin typeface="Roboto"/>
                <a:ea typeface="Roboto"/>
                <a:cs typeface="Roboto"/>
                <a:sym typeface="Roboto"/>
              </a:rPr>
              <a:t>Total de registros: 50</a:t>
            </a:r>
            <a:endParaRPr sz="2700">
              <a:solidFill>
                <a:schemeClr val="dk1"/>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idx="1" type="subTitle"/>
          </p:nvPr>
        </p:nvSpPr>
        <p:spPr>
          <a:xfrm>
            <a:off x="366100" y="0"/>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s-419">
                <a:solidFill>
                  <a:srgbClr val="0B5394"/>
                </a:solidFill>
                <a:latin typeface="Fira Sans"/>
                <a:ea typeface="Fira Sans"/>
                <a:cs typeface="Fira Sans"/>
                <a:sym typeface="Fira Sans"/>
              </a:rPr>
              <a:t>Enunciado</a:t>
            </a:r>
            <a:endParaRPr>
              <a:solidFill>
                <a:srgbClr val="0B5394"/>
              </a:solidFill>
              <a:latin typeface="Fira Sans"/>
              <a:ea typeface="Fira Sans"/>
              <a:cs typeface="Fira Sans"/>
              <a:sym typeface="Fira Sans"/>
            </a:endParaRPr>
          </a:p>
        </p:txBody>
      </p:sp>
      <p:sp>
        <p:nvSpPr>
          <p:cNvPr id="90" name="Google Shape;90;p18"/>
          <p:cNvSpPr txBox="1"/>
          <p:nvPr/>
        </p:nvSpPr>
        <p:spPr>
          <a:xfrm>
            <a:off x="428925" y="491931"/>
            <a:ext cx="7993800" cy="463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419" sz="1700">
                <a:solidFill>
                  <a:schemeClr val="dk1"/>
                </a:solidFill>
                <a:latin typeface="Roboto"/>
                <a:ea typeface="Roboto"/>
                <a:cs typeface="Roboto"/>
                <a:sym typeface="Roboto"/>
              </a:rPr>
              <a:t>Una empresa de reparación de celulares registró las reparaciones realizadas por sus técnicos el día de hoy. Cada técnico pudo haber reparado una diferente cantidad de dispositivos. Por cada reparación se registró:</a:t>
            </a:r>
            <a:endParaRPr sz="17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s-419" sz="1700">
                <a:solidFill>
                  <a:schemeClr val="dk1"/>
                </a:solidFill>
                <a:latin typeface="Roboto"/>
                <a:ea typeface="Roboto"/>
                <a:cs typeface="Roboto"/>
                <a:sym typeface="Roboto"/>
              </a:rPr>
              <a:t>- Legajo del técnico (entero de dos digitos)</a:t>
            </a:r>
            <a:endParaRPr sz="17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s-419" sz="1700">
                <a:solidFill>
                  <a:schemeClr val="dk1"/>
                </a:solidFill>
                <a:latin typeface="Roboto"/>
                <a:ea typeface="Roboto"/>
                <a:cs typeface="Roboto"/>
                <a:sym typeface="Roboto"/>
              </a:rPr>
              <a:t>- Duración de la reparación en minutos (entero)</a:t>
            </a:r>
            <a:endParaRPr sz="17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s-419" sz="1700">
                <a:solidFill>
                  <a:schemeClr val="dk1"/>
                </a:solidFill>
                <a:latin typeface="Roboto"/>
                <a:ea typeface="Roboto"/>
                <a:cs typeface="Roboto"/>
                <a:sym typeface="Roboto"/>
              </a:rPr>
              <a:t>- Cantidad de insumos necesarios (entero)</a:t>
            </a:r>
            <a:endParaRPr sz="17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7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s-419" sz="1700">
                <a:solidFill>
                  <a:schemeClr val="dk1"/>
                </a:solidFill>
                <a:latin typeface="Roboto"/>
                <a:ea typeface="Roboto"/>
                <a:cs typeface="Roboto"/>
                <a:sym typeface="Roboto"/>
              </a:rPr>
              <a:t>La información se encuentra agrupada por técnico. Para indicar el fin de la carga de datos de un técnico se ingresa un legajo distinto al del técnico anterior.</a:t>
            </a:r>
            <a:endParaRPr sz="17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s-419" sz="1700">
                <a:solidFill>
                  <a:schemeClr val="dk1"/>
                </a:solidFill>
                <a:latin typeface="Roboto"/>
                <a:ea typeface="Roboto"/>
                <a:cs typeface="Roboto"/>
                <a:sym typeface="Roboto"/>
              </a:rPr>
              <a:t>Para indicar el fin de la carga de datos se ingresa un número de legajo igual a cero.</a:t>
            </a:r>
            <a:endParaRPr sz="17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700">
              <a:solidFill>
                <a:schemeClr val="dk1"/>
              </a:solidFill>
              <a:latin typeface="Roboto"/>
              <a:ea typeface="Roboto"/>
              <a:cs typeface="Roboto"/>
              <a:sym typeface="Roboto"/>
            </a:endParaRPr>
          </a:p>
          <a:p>
            <a:pPr indent="0" lvl="0" marL="0" rtl="0" algn="l">
              <a:spcBef>
                <a:spcPts val="0"/>
              </a:spcBef>
              <a:spcAft>
                <a:spcPts val="0"/>
              </a:spcAft>
              <a:buNone/>
            </a:pPr>
            <a:r>
              <a:rPr lang="es-419" sz="1700">
                <a:solidFill>
                  <a:schemeClr val="dk1"/>
                </a:solidFill>
                <a:latin typeface="Roboto"/>
                <a:ea typeface="Roboto"/>
                <a:cs typeface="Roboto"/>
                <a:sym typeface="Roboto"/>
              </a:rPr>
              <a:t>Se pide calcular e informar:</a:t>
            </a:r>
            <a:endParaRPr sz="1700">
              <a:solidFill>
                <a:schemeClr val="dk1"/>
              </a:solidFill>
              <a:latin typeface="Roboto"/>
              <a:ea typeface="Roboto"/>
              <a:cs typeface="Roboto"/>
              <a:sym typeface="Roboto"/>
            </a:endParaRPr>
          </a:p>
          <a:p>
            <a:pPr indent="0" lvl="0" marL="0" rtl="0" algn="l">
              <a:spcBef>
                <a:spcPts val="0"/>
              </a:spcBef>
              <a:spcAft>
                <a:spcPts val="0"/>
              </a:spcAft>
              <a:buNone/>
            </a:pPr>
            <a:r>
              <a:t/>
            </a:r>
            <a:endParaRPr sz="17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s-419" sz="1700">
                <a:solidFill>
                  <a:schemeClr val="dk1"/>
                </a:solidFill>
                <a:latin typeface="Roboto"/>
                <a:ea typeface="Roboto"/>
                <a:cs typeface="Roboto"/>
                <a:sym typeface="Roboto"/>
              </a:rPr>
              <a:t>A) Por cada técnico, el tiempo total dedicado a la reparación en el día.</a:t>
            </a:r>
            <a:endParaRPr sz="17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s-419" sz="1700">
                <a:solidFill>
                  <a:schemeClr val="dk1"/>
                </a:solidFill>
                <a:latin typeface="Roboto"/>
                <a:ea typeface="Roboto"/>
                <a:cs typeface="Roboto"/>
                <a:sym typeface="Roboto"/>
              </a:rPr>
              <a:t>B) Por cada técnico, la cantidad de reparaciones que no requirieron insumos.</a:t>
            </a:r>
            <a:endParaRPr sz="1700">
              <a:solidFill>
                <a:schemeClr val="dk1"/>
              </a:solidFill>
              <a:latin typeface="Roboto"/>
              <a:ea typeface="Roboto"/>
              <a:cs typeface="Roboto"/>
              <a:sym typeface="Roboto"/>
            </a:endParaRPr>
          </a:p>
          <a:p>
            <a:pPr indent="0" lvl="0" marL="0" rtl="0" algn="l">
              <a:spcBef>
                <a:spcPts val="0"/>
              </a:spcBef>
              <a:spcAft>
                <a:spcPts val="0"/>
              </a:spcAft>
              <a:buNone/>
            </a:pPr>
            <a:r>
              <a:rPr lang="es-419" sz="1700">
                <a:solidFill>
                  <a:schemeClr val="dk1"/>
                </a:solidFill>
                <a:latin typeface="Roboto"/>
                <a:ea typeface="Roboto"/>
                <a:cs typeface="Roboto"/>
                <a:sym typeface="Roboto"/>
              </a:rPr>
              <a:t>C) El total de reparaciones que hayan demorado más de dos horas.</a:t>
            </a:r>
            <a:endParaRPr sz="1700">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idx="1" type="subTitle"/>
          </p:nvPr>
        </p:nvSpPr>
        <p:spPr>
          <a:xfrm>
            <a:off x="311700" y="3000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s-419">
                <a:solidFill>
                  <a:srgbClr val="0B5394"/>
                </a:solidFill>
                <a:latin typeface="Fira Sans"/>
                <a:ea typeface="Fira Sans"/>
                <a:cs typeface="Fira Sans"/>
                <a:sym typeface="Fira Sans"/>
              </a:rPr>
              <a:t>¿Similitudes con el enunciado anterior?</a:t>
            </a:r>
            <a:endParaRPr>
              <a:solidFill>
                <a:srgbClr val="0B5394"/>
              </a:solidFill>
              <a:latin typeface="Fira Sans"/>
              <a:ea typeface="Fira Sans"/>
              <a:cs typeface="Fira Sans"/>
              <a:sym typeface="Fira Sans"/>
            </a:endParaRPr>
          </a:p>
        </p:txBody>
      </p:sp>
      <p:sp>
        <p:nvSpPr>
          <p:cNvPr id="96" name="Google Shape;96;p19"/>
          <p:cNvSpPr/>
          <p:nvPr/>
        </p:nvSpPr>
        <p:spPr>
          <a:xfrm>
            <a:off x="642450" y="1563475"/>
            <a:ext cx="157800" cy="157800"/>
          </a:xfrm>
          <a:prstGeom prst="rect">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 name="Google Shape;97;p19"/>
          <p:cNvSpPr/>
          <p:nvPr/>
        </p:nvSpPr>
        <p:spPr>
          <a:xfrm>
            <a:off x="642450" y="2365775"/>
            <a:ext cx="157800" cy="157800"/>
          </a:xfrm>
          <a:prstGeom prst="rect">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 name="Google Shape;98;p19"/>
          <p:cNvSpPr/>
          <p:nvPr/>
        </p:nvSpPr>
        <p:spPr>
          <a:xfrm>
            <a:off x="642450" y="3168075"/>
            <a:ext cx="157800" cy="157800"/>
          </a:xfrm>
          <a:prstGeom prst="rect">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 name="Google Shape;99;p19"/>
          <p:cNvSpPr/>
          <p:nvPr/>
        </p:nvSpPr>
        <p:spPr>
          <a:xfrm>
            <a:off x="642450" y="3970375"/>
            <a:ext cx="157800" cy="157800"/>
          </a:xfrm>
          <a:prstGeom prst="rect">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idx="1" type="subTitle"/>
          </p:nvPr>
        </p:nvSpPr>
        <p:spPr>
          <a:xfrm>
            <a:off x="311700" y="3000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s-419">
                <a:solidFill>
                  <a:srgbClr val="0B5394"/>
                </a:solidFill>
                <a:latin typeface="Fira Sans"/>
                <a:ea typeface="Fira Sans"/>
                <a:cs typeface="Fira Sans"/>
                <a:sym typeface="Fira Sans"/>
              </a:rPr>
              <a:t>¿Diferencias con el enunciado anterior?</a:t>
            </a:r>
            <a:endParaRPr>
              <a:solidFill>
                <a:srgbClr val="0B5394"/>
              </a:solidFill>
              <a:latin typeface="Fira Sans"/>
              <a:ea typeface="Fira Sans"/>
              <a:cs typeface="Fira Sans"/>
              <a:sym typeface="Fira Sans"/>
            </a:endParaRPr>
          </a:p>
        </p:txBody>
      </p:sp>
      <p:sp>
        <p:nvSpPr>
          <p:cNvPr id="105" name="Google Shape;105;p20"/>
          <p:cNvSpPr/>
          <p:nvPr/>
        </p:nvSpPr>
        <p:spPr>
          <a:xfrm>
            <a:off x="642450" y="1563475"/>
            <a:ext cx="157800" cy="157800"/>
          </a:xfrm>
          <a:prstGeom prst="rect">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20"/>
          <p:cNvSpPr/>
          <p:nvPr/>
        </p:nvSpPr>
        <p:spPr>
          <a:xfrm>
            <a:off x="642450" y="2365775"/>
            <a:ext cx="157800" cy="157800"/>
          </a:xfrm>
          <a:prstGeom prst="rect">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20"/>
          <p:cNvSpPr/>
          <p:nvPr/>
        </p:nvSpPr>
        <p:spPr>
          <a:xfrm>
            <a:off x="642450" y="3168075"/>
            <a:ext cx="157800" cy="157800"/>
          </a:xfrm>
          <a:prstGeom prst="rect">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20"/>
          <p:cNvSpPr/>
          <p:nvPr/>
        </p:nvSpPr>
        <p:spPr>
          <a:xfrm>
            <a:off x="642450" y="3970375"/>
            <a:ext cx="157800" cy="157800"/>
          </a:xfrm>
          <a:prstGeom prst="rect">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idx="1" type="subTitle"/>
          </p:nvPr>
        </p:nvSpPr>
        <p:spPr>
          <a:xfrm>
            <a:off x="366100" y="0"/>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s-419">
                <a:solidFill>
                  <a:srgbClr val="0B5394"/>
                </a:solidFill>
                <a:latin typeface="Fira Sans"/>
                <a:ea typeface="Fira Sans"/>
                <a:cs typeface="Fira Sans"/>
                <a:sym typeface="Fira Sans"/>
              </a:rPr>
              <a:t>Enunciado</a:t>
            </a:r>
            <a:endParaRPr>
              <a:solidFill>
                <a:srgbClr val="0B5394"/>
              </a:solidFill>
              <a:latin typeface="Fira Sans"/>
              <a:ea typeface="Fira Sans"/>
              <a:cs typeface="Fira Sans"/>
              <a:sym typeface="Fira Sans"/>
            </a:endParaRPr>
          </a:p>
        </p:txBody>
      </p:sp>
      <p:sp>
        <p:nvSpPr>
          <p:cNvPr id="114" name="Google Shape;114;p21"/>
          <p:cNvSpPr txBox="1"/>
          <p:nvPr/>
        </p:nvSpPr>
        <p:spPr>
          <a:xfrm>
            <a:off x="428925" y="661125"/>
            <a:ext cx="79938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500">
                <a:solidFill>
                  <a:schemeClr val="dk1"/>
                </a:solidFill>
                <a:latin typeface="Roboto"/>
                <a:ea typeface="Roboto"/>
                <a:cs typeface="Roboto"/>
                <a:sym typeface="Roboto"/>
              </a:rPr>
              <a:t>Se pide calcular e informar:</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rPr lang="es-419" sz="1500">
                <a:solidFill>
                  <a:schemeClr val="dk1"/>
                </a:solidFill>
                <a:latin typeface="Roboto"/>
                <a:ea typeface="Roboto"/>
                <a:cs typeface="Roboto"/>
                <a:sym typeface="Roboto"/>
              </a:rPr>
              <a:t>A) Por cada técnico, el tiempo total dedicado a la reparación en el día.</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rPr lang="es-419" sz="1500">
                <a:solidFill>
                  <a:schemeClr val="dk1"/>
                </a:solidFill>
                <a:latin typeface="Roboto"/>
                <a:ea typeface="Roboto"/>
                <a:cs typeface="Roboto"/>
                <a:sym typeface="Roboto"/>
              </a:rPr>
              <a:t>B) Por cada técnico, la cantidad de reparaciones que no requirieron insumos.</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t/>
            </a:r>
            <a:endParaRPr sz="1500">
              <a:solidFill>
                <a:schemeClr val="dk1"/>
              </a:solidFill>
              <a:latin typeface="Roboto"/>
              <a:ea typeface="Roboto"/>
              <a:cs typeface="Roboto"/>
              <a:sym typeface="Roboto"/>
            </a:endParaRPr>
          </a:p>
          <a:p>
            <a:pPr indent="0" lvl="0" marL="0" rtl="0" algn="l">
              <a:spcBef>
                <a:spcPts val="0"/>
              </a:spcBef>
              <a:spcAft>
                <a:spcPts val="0"/>
              </a:spcAft>
              <a:buNone/>
            </a:pPr>
            <a:r>
              <a:rPr lang="es-419" sz="1500">
                <a:solidFill>
                  <a:schemeClr val="dk1"/>
                </a:solidFill>
                <a:latin typeface="Roboto"/>
                <a:ea typeface="Roboto"/>
                <a:cs typeface="Roboto"/>
                <a:sym typeface="Roboto"/>
              </a:rPr>
              <a:t>C) El total de reparaciones que hayan demorado más de dos horas.</a:t>
            </a:r>
            <a:endParaRPr sz="1500">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p:nvPr/>
        </p:nvSpPr>
        <p:spPr>
          <a:xfrm rot="10800000">
            <a:off x="6790200" y="0"/>
            <a:ext cx="2353800" cy="1062300"/>
          </a:xfrm>
          <a:prstGeom prst="rtTriangle">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2"/>
          <p:cNvSpPr txBox="1"/>
          <p:nvPr>
            <p:ph idx="1" type="subTitle"/>
          </p:nvPr>
        </p:nvSpPr>
        <p:spPr>
          <a:xfrm>
            <a:off x="406575" y="0"/>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s-419">
                <a:solidFill>
                  <a:srgbClr val="0B5394"/>
                </a:solidFill>
                <a:latin typeface="Fira Sans"/>
                <a:ea typeface="Fira Sans"/>
                <a:cs typeface="Fira Sans"/>
                <a:sym typeface="Fira Sans"/>
              </a:rPr>
              <a:t>Representación general</a:t>
            </a:r>
            <a:endParaRPr>
              <a:solidFill>
                <a:srgbClr val="0B5394"/>
              </a:solidFill>
              <a:latin typeface="Fira Sans"/>
              <a:ea typeface="Fira Sans"/>
              <a:cs typeface="Fira Sans"/>
              <a:sym typeface="Fira Sans"/>
            </a:endParaRPr>
          </a:p>
        </p:txBody>
      </p:sp>
      <p:pic>
        <p:nvPicPr>
          <p:cNvPr id="121" name="Google Shape;121;p22"/>
          <p:cNvPicPr preferRelativeResize="0"/>
          <p:nvPr/>
        </p:nvPicPr>
        <p:blipFill rotWithShape="1">
          <a:blip r:embed="rId3">
            <a:alphaModFix/>
          </a:blip>
          <a:srcRect b="9290" l="0" r="0" t="18298"/>
          <a:stretch/>
        </p:blipFill>
        <p:spPr>
          <a:xfrm>
            <a:off x="2628150" y="578275"/>
            <a:ext cx="4263700" cy="4467799"/>
          </a:xfrm>
          <a:prstGeom prst="rect">
            <a:avLst/>
          </a:prstGeom>
          <a:noFill/>
          <a:ln>
            <a:noFill/>
          </a:ln>
        </p:spPr>
      </p:pic>
      <p:sp>
        <p:nvSpPr>
          <p:cNvPr id="122" name="Google Shape;122;p22"/>
          <p:cNvSpPr/>
          <p:nvPr/>
        </p:nvSpPr>
        <p:spPr>
          <a:xfrm>
            <a:off x="0" y="4081200"/>
            <a:ext cx="2475900" cy="1062300"/>
          </a:xfrm>
          <a:prstGeom prst="rtTriangle">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idx="1" type="subTitle"/>
          </p:nvPr>
        </p:nvSpPr>
        <p:spPr>
          <a:xfrm>
            <a:off x="406575" y="497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s-419">
                <a:solidFill>
                  <a:srgbClr val="0B5394"/>
                </a:solidFill>
                <a:latin typeface="Fira Sans"/>
                <a:ea typeface="Fira Sans"/>
                <a:cs typeface="Fira Sans"/>
                <a:sym typeface="Fira Sans"/>
              </a:rPr>
              <a:t>Tabla de datos</a:t>
            </a:r>
            <a:endParaRPr>
              <a:solidFill>
                <a:srgbClr val="0B5394"/>
              </a:solidFill>
              <a:latin typeface="Fira Sans"/>
              <a:ea typeface="Fira Sans"/>
              <a:cs typeface="Fira Sans"/>
              <a:sym typeface="Fira Sans"/>
            </a:endParaRPr>
          </a:p>
        </p:txBody>
      </p:sp>
      <p:sp>
        <p:nvSpPr>
          <p:cNvPr id="128" name="Google Shape;128;p23"/>
          <p:cNvSpPr/>
          <p:nvPr/>
        </p:nvSpPr>
        <p:spPr>
          <a:xfrm rot="10800000">
            <a:off x="6228000" y="-50"/>
            <a:ext cx="2916000" cy="1062300"/>
          </a:xfrm>
          <a:prstGeom prst="rtTriangle">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3"/>
          <p:cNvSpPr txBox="1"/>
          <p:nvPr/>
        </p:nvSpPr>
        <p:spPr>
          <a:xfrm>
            <a:off x="1665025" y="1112250"/>
            <a:ext cx="6050100" cy="1954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2300">
                <a:solidFill>
                  <a:schemeClr val="dk1"/>
                </a:solidFill>
                <a:latin typeface="Roboto"/>
                <a:ea typeface="Roboto"/>
                <a:cs typeface="Roboto"/>
                <a:sym typeface="Roboto"/>
              </a:rPr>
              <a:t>Indeterminada cantidad de </a:t>
            </a:r>
            <a:r>
              <a:rPr lang="es-419" sz="2300">
                <a:solidFill>
                  <a:schemeClr val="dk1"/>
                </a:solidFill>
                <a:latin typeface="Roboto"/>
                <a:ea typeface="Roboto"/>
                <a:cs typeface="Roboto"/>
                <a:sym typeface="Roboto"/>
              </a:rPr>
              <a:t>registros de reparación por cada uno de los técnicos cuya cantidad también es indeterminado.</a:t>
            </a:r>
            <a:endParaRPr sz="2300">
              <a:solidFill>
                <a:schemeClr val="dk1"/>
              </a:solidFill>
              <a:latin typeface="Roboto"/>
              <a:ea typeface="Roboto"/>
              <a:cs typeface="Roboto"/>
              <a:sym typeface="Roboto"/>
            </a:endParaRPr>
          </a:p>
          <a:p>
            <a:pPr indent="0" lvl="0" marL="0" rtl="0" algn="l">
              <a:spcBef>
                <a:spcPts val="0"/>
              </a:spcBef>
              <a:spcAft>
                <a:spcPts val="0"/>
              </a:spcAft>
              <a:buNone/>
            </a:pPr>
            <a:r>
              <a:t/>
            </a:r>
            <a:endParaRPr sz="2300">
              <a:solidFill>
                <a:schemeClr val="dk1"/>
              </a:solidFill>
              <a:latin typeface="Roboto"/>
              <a:ea typeface="Roboto"/>
              <a:cs typeface="Roboto"/>
              <a:sym typeface="Roboto"/>
            </a:endParaRPr>
          </a:p>
          <a:p>
            <a:pPr indent="0" lvl="0" marL="0" rtl="0" algn="l">
              <a:spcBef>
                <a:spcPts val="0"/>
              </a:spcBef>
              <a:spcAft>
                <a:spcPts val="0"/>
              </a:spcAft>
              <a:buNone/>
            </a:pPr>
            <a:r>
              <a:rPr lang="es-419" sz="2300">
                <a:solidFill>
                  <a:schemeClr val="dk1"/>
                </a:solidFill>
                <a:latin typeface="Roboto"/>
                <a:ea typeface="Roboto"/>
                <a:cs typeface="Roboto"/>
                <a:sym typeface="Roboto"/>
              </a:rPr>
              <a:t>Total de registros: Indeterminado</a:t>
            </a:r>
            <a:endParaRPr sz="2300">
              <a:solidFill>
                <a:schemeClr val="dk1"/>
              </a:solidFill>
              <a:latin typeface="Roboto"/>
              <a:ea typeface="Roboto"/>
              <a:cs typeface="Roboto"/>
              <a:sym typeface="Roboto"/>
            </a:endParaRPr>
          </a:p>
        </p:txBody>
      </p:sp>
      <p:sp>
        <p:nvSpPr>
          <p:cNvPr id="130" name="Google Shape;130;p23"/>
          <p:cNvSpPr/>
          <p:nvPr/>
        </p:nvSpPr>
        <p:spPr>
          <a:xfrm>
            <a:off x="0" y="4081200"/>
            <a:ext cx="2916000" cy="1062300"/>
          </a:xfrm>
          <a:prstGeom prst="rtTriangle">
            <a:avLst/>
          </a:prstGeom>
          <a:solidFill>
            <a:srgbClr val="0B5394"/>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